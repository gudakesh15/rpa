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142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German Vocabulary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926080"/>
            <a:ext cx="450799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90672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4F7"/>
                </a:solidFill>
              </a:rPr>
              <a:t>Automating daily language learning with UiPath · Python · NotebookLM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931920"/>
            <a:ext cx="3959352" cy="50292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950208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RPA Seminar — Masters Semester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</a:rPr>
              <a:t>Rodrigo  ·  Avi  ·  [Name]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A8"/>
                </a:solidFill>
              </a:rPr>
              <a:t>github.com/Gudakesh15/RPA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Three non-native German speakers with the same daily struggle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15087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91440" cy="150876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>
                <a:solidFill>
                  <a:srgbClr val="1B3C8C"/>
                </a:solidFill>
              </a:rPr>
              <a:t>“We search German words all day long…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>
                <a:solidFill>
                  <a:srgbClr val="1B3C8C"/>
                </a:solidFill>
              </a:rPr>
              <a:t>  and forget every single one by evening.”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08960"/>
            <a:ext cx="3630168" cy="2240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108960"/>
            <a:ext cx="3630168" cy="64008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18688"/>
            <a:ext cx="3319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🎓  The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0167"/>
            <a:ext cx="33192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Attending German lectures and seminars, constantly looking up academic vocabulary — Bedeutung, zuständig, Antrag — and losing them all in browser history.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3108960"/>
            <a:ext cx="3630168" cy="2240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3108960"/>
            <a:ext cx="3630168" cy="64008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3218688"/>
            <a:ext cx="3319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🏙️  The City Dweller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630167"/>
            <a:ext cx="33192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Reading menus, official letters, street signs and texts in German every day. New words appear everywhere — none of them stick.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3108960"/>
            <a:ext cx="3630168" cy="2240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3108960"/>
            <a:ext cx="3630168" cy="64008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218688"/>
            <a:ext cx="3319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💬  The Daily Learner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30167"/>
            <a:ext cx="33192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Watching German TV, chatting with colleagues, searching words mid-conversation. The searches pile up. The review never happens.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7784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72"/>
                </a:solidFill>
              </a:rPr>
              <a:t>The problem: vocabulary is searched constantly, but there is no automatic way to capture and review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Vocabulary is searched every day — but never revisited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120640" cy="5029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E8630A"/>
                </a:solidFill>
              </a:rPr>
              <a:t>5–20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3C8C"/>
                </a:solidFill>
              </a:rPr>
              <a:t>German words searched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72"/>
                </a:solidFill>
              </a:rPr>
              <a:t>across Google, Duden, DeepL, Linguee, DWDS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26280"/>
            <a:ext cx="4572000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0392B"/>
                </a:solidFill>
              </a:rPr>
              <a:t>0  reviewed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72"/>
                </a:solidFill>
              </a:rPr>
              <a:t>at the end of the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417320"/>
            <a:ext cx="608076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1417320"/>
            <a:ext cx="64008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5087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📱  Multi-device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87452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Searches happen on phone, tablet and laptop.
No single place collects them 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2679192"/>
            <a:ext cx="608076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2679192"/>
            <a:ext cx="64008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27706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⏱️  No time to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13639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By the time you sit down to study, you can’t
remember what you searched for.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3941064"/>
            <a:ext cx="608076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3941064"/>
            <a:ext cx="64008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403250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📋  Manual effort always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398264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Copy-pasting words into flashcard apps sounds
good — but never actually happens consistently.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5202936"/>
            <a:ext cx="608076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0" y="5202936"/>
            <a:ext cx="64008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52943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🔁  Repetition without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66013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The same words get searched again and again.
Learning never sticks because review never happens.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A fully automated pipeline: from browser history to AI revision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" y="1737360"/>
            <a:ext cx="1938528" cy="3063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" y="1938528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" y="26517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C8C"/>
                </a:solidFill>
              </a:rPr>
              <a:t>Google
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" y="3364992"/>
            <a:ext cx="1719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2"/>
                </a:solidFill>
              </a:rPr>
              <a:t>All searches
across every device
via Google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4892" y="2834640"/>
            <a:ext cx="310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5788" y="1737360"/>
            <a:ext cx="1938528" cy="3063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5788" y="1938528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5788" y="26517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C8C"/>
                </a:solidFill>
              </a:rPr>
              <a:t>UiPath
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5516" y="3364992"/>
            <a:ext cx="1719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2"/>
                </a:solidFill>
              </a:rPr>
              <a:t>Scrapes history,
triggers scripts,
navigates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4316" y="2834640"/>
            <a:ext cx="310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5212" y="1737360"/>
            <a:ext cx="1938528" cy="3063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5212" y="1938528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</a:rPr>
              <a:t>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5212" y="26517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C8C"/>
                </a:solidFill>
              </a:rPr>
              <a:t>Python
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4940" y="3364992"/>
            <a:ext cx="1719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2"/>
                </a:solidFill>
              </a:rPr>
              <a:t>Detects and isolates
German vocabulary
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3740" y="2834640"/>
            <a:ext cx="310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4636" y="1737360"/>
            <a:ext cx="1938528" cy="3063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4636" y="1938528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4636" y="26517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C8C"/>
                </a:solidFill>
              </a:rPr>
              <a:t>Source
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4364" y="3364992"/>
            <a:ext cx="1719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72"/>
                </a:solidFill>
              </a:rPr>
              <a:t>Clean plain-text
vocabulary list
for NotebookLM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3164" y="2834640"/>
            <a:ext cx="3108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4060" y="1737360"/>
            <a:ext cx="1938528" cy="306324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4060" y="1938528"/>
            <a:ext cx="1938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2E"/>
                </a:solidFill>
              </a:rPr>
              <a:t>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4060" y="265176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 Video
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3788" y="3364992"/>
            <a:ext cx="1719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NotebookLM creates
your personalised
revision episode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72"/>
                </a:solidFill>
              </a:rPr>
              <a:t>One UiPath workflow orchestrates the entire flow — from scraping to video generation.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650992"/>
            <a:ext cx="4114800" cy="777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68756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C8C"/>
                </a:solidFill>
              </a:rPr>
              <a:t>💡  Key insight: Google syncs history across phone + laptop.
    UiPath captures everything you searched on every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UiPath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22 activities — one browser session — fully automated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64008" cy="118872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①  Scrape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Opens myactivity.google.com
Extracts full search history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15768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715768"/>
            <a:ext cx="64008" cy="118872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07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② 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Writes to Excel via
Use Excel File activity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14216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014216"/>
            <a:ext cx="64008" cy="118872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056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③ 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17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Triggers Python script
via Start Process 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12664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312664"/>
            <a:ext cx="64008" cy="118872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4041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④  Navigate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1558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Goes to notebooklm.google.com
in the same Chrome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9672" y="1417320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9672" y="1417320"/>
            <a:ext cx="64008" cy="1188720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⑤  Create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19202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Clicks ‘New Notebook’
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9672" y="2715768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9672" y="2715768"/>
            <a:ext cx="64008" cy="1188720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2807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⑥ 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2186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Opens Windows file picker
Uploads vocabulary source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9672" y="4014216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9672" y="4014216"/>
            <a:ext cx="64008" cy="1188720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1056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⑦  Customise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4517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Clicks Video Overview
Types personalised AI prompt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9672" y="5312664"/>
            <a:ext cx="5349240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19672" y="5312664"/>
            <a:ext cx="64008" cy="1188720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54041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C8C"/>
                </a:solidFill>
              </a:rPr>
              <a:t>⑧ 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581558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Clicks Generate
Shows ‘Process completed’ dialog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7296" y="1417320"/>
            <a:ext cx="594360" cy="5349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79008" y="3749039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1554480"/>
            <a:ext cx="658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72"/>
                </a:solidFill>
              </a:rPr>
              <a:t>Google
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394960"/>
            <a:ext cx="658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72"/>
                </a:solidFill>
              </a:rPr>
              <a:t>Notebook
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Challenges We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Real debugging experience building the UiPath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4406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44068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27048"/>
            <a:ext cx="5129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⚠️  Python not found by UiPath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38527"/>
            <a:ext cx="5129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Start Process with 'python' failed — Python not in system PATH when UiPath launches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560320"/>
            <a:ext cx="5129784" cy="3657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642616"/>
            <a:ext cx="5129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A44"/>
                </a:solidFill>
              </a:rPr>
              <a:t>✓  Full exe path: C:\Python313\python.exe
+ Chr(34) quoting for paths that contain spaces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1417320"/>
            <a:ext cx="54406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1417320"/>
            <a:ext cx="544068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27048"/>
            <a:ext cx="5129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⚠️  Dynamic UI element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38527"/>
            <a:ext cx="5129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NotebookLM uses Angular Material — element IDs like 'mat-input-1' change on every page load, breaking selectors.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560320"/>
            <a:ext cx="5129784" cy="3657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642616"/>
            <a:ext cx="5129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A44"/>
                </a:solidFill>
              </a:rPr>
              <a:t>✓  Positional selector: &lt;webctrl tag='TEXTAREA' idx='3' /&gt;
Stable regardless of Angular’s ID assignment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67912"/>
            <a:ext cx="54406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67912"/>
            <a:ext cx="544068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977640"/>
            <a:ext cx="5129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⚠️  Wrong data format assumption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389119"/>
            <a:ext cx="5129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Expected URL columns from myactivity.google.com — UiPath Extract Table Data returned a single text column instead.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5010912"/>
            <a:ext cx="5129784" cy="3657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093208"/>
            <a:ext cx="5129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A44"/>
                </a:solidFill>
              </a:rPr>
              <a:t>✓  Rewrote Script 1 to parse the format:
‘Searched for [term]\n[time] • Details’ directly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8192" y="3867912"/>
            <a:ext cx="5440680" cy="2286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3867912"/>
            <a:ext cx="544068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977640"/>
            <a:ext cx="5129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⚠️  UI in a foreign 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389119"/>
            <a:ext cx="512978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NotebookLM displayed ‘Generar’ (Spanish) instead of ‘Generate’ — strict text selector failed completely.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010912"/>
            <a:ext cx="5129784" cy="36576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093208"/>
            <a:ext cx="51297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A44"/>
                </a:solidFill>
              </a:rPr>
              <a:t>✓  UiPath Fuzzy Selector targeting aaname=' Generar '
Works regardless of NotebookLM’s display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MVP —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End-to-end pipeline running and recorded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270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996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Scrape Google My Activity (cross-device, phone + laptop)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568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Write full search history to Excel via UiPath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414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77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Trigger Python script automatically from UiPath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986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712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834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Detect German words: ä / ö / ü / ß character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558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3284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291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Generate clean source file for NotebookLM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130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856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49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Auto-create a new NotebookLM notebook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702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428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206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Upload vocabulary file via Windows file picker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274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000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63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Trigger AI Video Overview in NotebookLM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846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1572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120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Type personalised learning prompt automatically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41848"/>
            <a:ext cx="274320" cy="2743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6144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577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Generate AI video — confirm with ‘Process completed’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1417320"/>
            <a:ext cx="5257800" cy="507492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15361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Files Produced Each 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2148840"/>
            <a:ext cx="4709160" cy="59436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18541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raw_searches.xlsx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2459736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Full Google search history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2807208"/>
            <a:ext cx="4709160" cy="59436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843784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vocabulary_words.xlsx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118104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Filtered German word 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20840" y="3465576"/>
            <a:ext cx="4709160" cy="59436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502152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notebooklm_source.txt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776472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Upload file for NotebookLM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4123944"/>
            <a:ext cx="4709160" cy="59436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160520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NotebookLM Notebook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4434840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New notebook created automatically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4782312"/>
            <a:ext cx="4709160" cy="59436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818888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AI Video Overview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093208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Personalised revision video 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5440680"/>
            <a:ext cx="4709160" cy="594360"/>
          </a:xfrm>
          <a:prstGeom prst="rect">
            <a:avLst/>
          </a:prstGeom>
          <a:solidFill>
            <a:srgbClr val="28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547725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digest_YYYYMMDD.pdf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751576"/>
            <a:ext cx="4434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PDF backup (secondary path)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What’s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Making UiPath the core of every step — more automation, smarter filtering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593592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593592" cy="64008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91056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C8C"/>
                </a:solidFill>
              </a:rPr>
              <a:t>🔁  UiPath Data
Filtering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21408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UiPath reads vocabulary Excel, loops through every row, applies its own filter rules and builds the upload file — less Python, more UiPath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8516" y="1463040"/>
            <a:ext cx="3593592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8516" y="1463040"/>
            <a:ext cx="3593592" cy="64008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3964" y="1591056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C8C"/>
                </a:solidFill>
              </a:rPr>
              <a:t>📖  DWDS
Enrichment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3964" y="2121408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UiPath opens dwds.de for each word, extracts the definition and an example sentence, writes it back to Excel — richer content for the video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1463040"/>
            <a:ext cx="3593592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6992" y="1463040"/>
            <a:ext cx="3593592" cy="64008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91056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C8C"/>
                </a:solidFill>
              </a:rPr>
              <a:t>⚡  Conditional
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21408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If zero German words found, UiPath skips NotebookLM and shows a smart notification instead of uploading an empty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84448"/>
            <a:ext cx="3593592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584448"/>
            <a:ext cx="3593592" cy="64008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12464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C8C"/>
                </a:solidFill>
              </a:rPr>
              <a:t>📅  Daily
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242816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Windows Task Scheduler runs the bot every morning — your revision video is ready before the first lecture of the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28516" y="3584448"/>
            <a:ext cx="3593592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28516" y="3584448"/>
            <a:ext cx="3593592" cy="64008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3964" y="3712464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C8C"/>
                </a:solidFill>
              </a:rPr>
              <a:t>📊  Run Log
&amp;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3964" y="4242816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UiPath appends each run to a log Excel: date, words found, notebook name, status — track vocabulary growth over weeks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6992" y="3584448"/>
            <a:ext cx="3593592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36992" y="3584448"/>
            <a:ext cx="3593592" cy="64008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712464"/>
            <a:ext cx="3282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C8C"/>
                </a:solidFill>
              </a:rPr>
              <a:t>📧  Email
Digest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242816"/>
            <a:ext cx="32826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2"/>
                </a:solidFill>
              </a:rPr>
              <a:t>UiPath sends a weekly summary email with word count, the full vocabulary list, and a direct link to the NotebookLM notebook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029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Full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A daily autonomous language learning companion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2423160"/>
            <a:ext cx="3867912" cy="1828800"/>
          </a:xfrm>
          <a:prstGeom prst="rect">
            <a:avLst/>
          </a:prstGeom>
          <a:solidFill>
            <a:srgbClr val="1B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2423160"/>
            <a:ext cx="3867912" cy="73152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514600"/>
            <a:ext cx="3867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Daily Automated
Vocabulary Digest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880360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C8C"/>
                </a:solidFill>
              </a:rPr>
              <a:t>📱  Multi-device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57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Phone + laptop searches
captured via Google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9202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2880360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154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C8C"/>
                </a:solidFill>
              </a:rPr>
              <a:t>🌐  Multi-language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6118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French, Spanish, Italian
— same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4747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17720"/>
            <a:ext cx="2880360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709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C8C"/>
                </a:solidFill>
              </a:rPr>
              <a:t>🧠  LLM Enrichment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1663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Definitions + examples
added via API before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50292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30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508760"/>
            <a:ext cx="2880360" cy="1417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C8C"/>
                </a:solidFill>
              </a:rPr>
              <a:t>📝  Anki Flashcards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057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Auto-generated deck
from vocabulary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19202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30A"/>
                </a:solidFill>
              </a:rPr>
              <a:t>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063240"/>
            <a:ext cx="2880360" cy="1417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6568" y="3154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C8C"/>
                </a:solidFill>
              </a:rPr>
              <a:t>📊 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36118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Track vocabulary growth
over weeks and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4747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30A"/>
                </a:solidFill>
              </a:rPr>
              <a:t>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617720"/>
            <a:ext cx="2880360" cy="1417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4709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C8C"/>
                </a:solidFill>
              </a:rPr>
              <a:t>📧  Email Digest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8" y="51663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72"/>
                </a:solidFill>
              </a:rPr>
              <a:t>Weekly summary email
every Sunday morning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50292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630A"/>
                </a:solidFill>
              </a:rPr>
              <a:t>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88952" cy="2011680"/>
          </a:xfrm>
          <a:prstGeom prst="rect">
            <a:avLst/>
          </a:prstGeom>
          <a:solidFill>
            <a:srgbClr val="142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834640"/>
            <a:ext cx="3959352" cy="54864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6E4F7"/>
                </a:solidFill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931920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🌐  Any German word you search — captured automatically, across every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90288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🤖  UiPath orchestrates the entire pipeline without any manual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248656"/>
            <a:ext cx="8897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🎬  NotebookLM turns your daily vocabulary into a personalised revision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80A8"/>
                </a:solidFill>
              </a:rPr>
              <a:t>github.com/Gudakesh15/RPA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